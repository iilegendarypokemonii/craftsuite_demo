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heme" Target="theme/them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 2026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Reasoning</c:v>
                </c:pt>
                <c:pt idx="1">
                  <c:v>Benchmarks</c:v>
                </c:pt>
                <c:pt idx="2">
                  <c:v>Compute</c:v>
                </c:pt>
                <c:pt idx="3">
                  <c:v>Multimodal</c:v>
                </c:pt>
                <c:pt idx="4">
                  <c:v>On-device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9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2026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Reasoning</c:v>
                </c:pt>
                <c:pt idx="1">
                  <c:v>Benchmarks</c:v>
                </c:pt>
                <c:pt idx="2">
                  <c:v>Compute</c:v>
                </c:pt>
                <c:pt idx="3">
                  <c:v>Multimodal</c:v>
                </c:pt>
                <c:pt idx="4">
                  <c:v>On-device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6</c:v>
                </c:pt>
                <c:pt idx="2">
                  <c:v>12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0001"/>
        <c:axId val="50002"/>
      </c:barChart>
      <c:catAx>
        <c:axId val="5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02"/>
        <c:crosses val="autoZero"/>
        <c:auto val="1"/>
        <c:lblAlgn val="ctr"/>
        <c:lblOffset val="100"/>
        <c:noMultiLvlLbl val="0"/>
      </c:catAx>
      <c:valAx>
        <c:axId val="50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01"/>
        <c:crosses val="autoZero"/>
        <c:crossBetween val="between"/>
      </c:valAx>
    </c:plotArea>
    <c:legend>
      <c:legendPos val="t"/>
      <c:overlay val="0"/>
    </c:legend>
    <c:plotVisOnly val="1"/>
    <c:dispBlanksAs val="gap"/>
  </c:chart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This deck is illustrative. All data is synthetic. We report shares, not counts.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59" name="TextBox 2"/>
          <p:cNvSpPr txBox="1"/>
          <p:nvPr/>
        </p:nvSpPr>
        <p:spPr>
          <a:xfrm>
            <a:off x="711200" y="1524000"/>
            <a:ext cx="6604000" cy="327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B134"/>
                </a:solidFill>
                <a:latin typeface="Segoe UI"/>
              </a:rPr>
              <a:t>NORTHBANK MEDIA LAB  ·  2026 STUDY</a:t>
            </a:r>
            <a:endParaRPr sz="1400" b="1">
              <a:solidFill>
                <a:srgbClr val="F2B134"/>
              </a:solidFill>
              <a:latin typeface="Segoe UI"/>
            </a:endParaRPr>
          </a:p>
        </p:txBody>
      </p:sp>
      <p:sp>
        <p:nvSpPr>
          <p:cNvPr id="260" name="TextBox 3"/>
          <p:cNvSpPr txBox="1"/>
          <p:nvPr/>
        </p:nvSpPr>
        <p:spPr>
          <a:xfrm>
            <a:off x="711200" y="1905000"/>
            <a:ext cx="6858000" cy="1003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7F4EE"/>
                </a:solidFill>
                <a:latin typeface="Segoe UI"/>
              </a:rPr>
              <a:t>Signal &amp; Noise 2026</a:t>
            </a:r>
            <a:endParaRPr sz="5400" b="1">
              <a:solidFill>
                <a:srgbClr val="F7F4EE"/>
              </a:solidFill>
              <a:latin typeface="Segoe UI"/>
            </a:endParaRPr>
          </a:p>
        </p:txBody>
      </p:sp>
      <p:sp>
        <p:nvSpPr>
          <p:cNvPr id="261" name="TextBox 4"/>
          <p:cNvSpPr txBox="1"/>
          <p:nvPr/>
        </p:nvSpPr>
        <p:spPr>
          <a:xfrm>
            <a:off x="711200" y="2946400"/>
            <a:ext cx="6604000" cy="500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2200">
                <a:solidFill>
                  <a:srgbClr val="F7F4EE"/>
                </a:solidFill>
                <a:latin typeface="Segoe UI"/>
              </a:rPr>
              <a:t>How social media talked about LLMs, Jan–Sep 2026</a:t>
            </a:r>
            <a:endParaRPr sz="2200">
              <a:solidFill>
                <a:srgbClr val="F7F4EE"/>
              </a:solidFill>
              <a:latin typeface="Segoe UI"/>
            </a:endParaRPr>
          </a:p>
        </p:txBody>
      </p:sp>
      <p:sp>
        <p:nvSpPr>
          <p:cNvPr id="262" name="TextBox 5"/>
          <p:cNvSpPr txBox="1"/>
          <p:nvPr/>
        </p:nvSpPr>
        <p:spPr>
          <a:xfrm>
            <a:off x="711200" y="4191000"/>
            <a:ext cx="6604000" cy="361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solidFill>
                  <a:srgbClr val="8A8FA3"/>
                </a:solidFill>
                <a:latin typeface="Segoe UI"/>
              </a:rPr>
              <a:t>Hand-coded sample: 387 posts · 6 platforms · 10 themes</a:t>
            </a:r>
            <a:endParaRPr sz="1600">
              <a:solidFill>
                <a:srgbClr val="8A8FA3"/>
              </a:solidFill>
              <a:latin typeface="Segoe UI"/>
            </a:endParaRPr>
          </a:p>
        </p:txBody>
      </p:sp>
      <p:pic>
        <p:nvPicPr>
          <p:cNvPr id="264" name="Picture 6" descr="vc_bad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00" y="1143000"/>
            <a:ext cx="4064000" cy="4064000"/>
          </a:xfrm>
          <a:prstGeom prst="rect">
            <a:avLst/>
          </a:prstGeom>
        </p:spPr>
      </p:pic>
      <p:sp>
        <p:nvSpPr>
          <p:cNvPr id="265" name="TextBox 7"/>
          <p:cNvSpPr txBox="1"/>
          <p:nvPr/>
        </p:nvSpPr>
        <p:spPr>
          <a:xfrm>
            <a:off x="711200" y="6172200"/>
            <a:ext cx="10769600" cy="277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8A8FA3"/>
                </a:solidFill>
                <a:latin typeface="Segoe UI"/>
              </a:rPr>
              <a:t>Illustrative study. The data is synthetic. Authors are fictional. There are no real quotes or release claims.</a:t>
            </a:r>
            <a:endParaRPr sz="1100">
              <a:solidFill>
                <a:srgbClr val="8A8FA3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fill="hold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68" name="TextBox 2"/>
          <p:cNvSpPr txBox="1"/>
          <p:nvPr/>
        </p:nvSpPr>
        <p:spPr>
          <a:xfrm>
            <a:off x="711200" y="381000"/>
            <a:ext cx="10414000" cy="311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4A"/>
                </a:solidFill>
                <a:latin typeface="Segoe UI"/>
              </a:rPr>
              <a:t>METHOD</a:t>
            </a:r>
            <a:endParaRPr sz="1300" b="1">
              <a:solidFill>
                <a:srgbClr val="FF6B4A"/>
              </a:solidFill>
              <a:latin typeface="Segoe UI"/>
            </a:endParaRPr>
          </a:p>
        </p:txBody>
      </p:sp>
      <p:sp>
        <p:nvSpPr>
          <p:cNvPr id="269" name="TextBox 3"/>
          <p:cNvSpPr txBox="1"/>
          <p:nvPr/>
        </p:nvSpPr>
        <p:spPr>
          <a:xfrm>
            <a:off x="711200" y="660400"/>
            <a:ext cx="10769600" cy="598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3B"/>
                </a:solidFill>
                <a:latin typeface="Segoe UI"/>
              </a:rPr>
              <a:t>A hand-coded sample, reported as shares</a:t>
            </a:r>
            <a:endParaRPr sz="3000" b="1">
              <a:solidFill>
                <a:srgbClr val="1B1F3B"/>
              </a:solidFill>
              <a:latin typeface="Segoe UI"/>
            </a:endParaRPr>
          </a:p>
        </p:txBody>
      </p:sp>
      <p:sp>
        <p:nvSpPr>
          <p:cNvPr id="270" name="TextBox 4"/>
          <p:cNvSpPr txBox="1"/>
          <p:nvPr/>
        </p:nvSpPr>
        <p:spPr>
          <a:xfrm>
            <a:off x="711200" y="6426200"/>
            <a:ext cx="10769600" cy="260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8A8FA3"/>
                </a:solidFill>
                <a:latin typeface="Segoe UI"/>
              </a:rPr>
              <a:t>Signal &amp; Noise 2026  ·  Northbank Media Lab  ·  illustrative, synthetic data  ·  2/7</a:t>
            </a:r>
            <a:endParaRPr sz="1000">
              <a:solidFill>
                <a:srgbClr val="8A8FA3"/>
              </a:solidFill>
              <a:latin typeface="Segoe UI"/>
            </a:endParaRPr>
          </a:p>
        </p:txBody>
      </p:sp>
      <p:sp>
        <p:nvSpPr>
          <p:cNvPr id="271" name="TextBox 5"/>
          <p:cNvSpPr txBox="1"/>
          <p:nvPr/>
        </p:nvSpPr>
        <p:spPr>
          <a:xfrm>
            <a:off x="711200" y="1651000"/>
            <a:ext cx="6096000" cy="2845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We hand-coded 387 synthetic posts from Jan–Sep 2026.</a:t>
            </a:r>
            <a:endParaRPr sz="1700">
              <a:solidFill>
                <a:srgbClr val="1B1F3B"/>
              </a:solidFill>
              <a:latin typeface="Segoe UI"/>
            </a:endParaRPr>
          </a:p>
          <a:p>
            <a:pPr marL="228600" indent="-228600"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The sample represents a much larger stream of posts.</a:t>
            </a:r>
            <a:endParaRPr sz="1700">
              <a:solidFill>
                <a:srgbClr val="1B1F3B"/>
              </a:solidFill>
              <a:latin typeface="Segoe UI"/>
            </a:endParaRPr>
          </a:p>
          <a:p>
            <a:pPr marL="228600" indent="-228600"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Each post has 1 of 10 themes and 1 sentiment: positive, neutral or negative.</a:t>
            </a:r>
            <a:endParaRPr sz="1700">
              <a:solidFill>
                <a:srgbClr val="1B1F3B"/>
              </a:solidFill>
              <a:latin typeface="Segoe UI"/>
            </a:endParaRPr>
          </a:p>
          <a:p>
            <a:pPr marL="228600" indent="-228600"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We report shares, not counts: a theme's share of the conversation in a month.</a:t>
            </a:r>
            <a:endParaRPr sz="1700">
              <a:solidFill>
                <a:srgbClr val="1B1F3B"/>
              </a:solidFill>
              <a:latin typeface="Segoe UI"/>
            </a:endParaRPr>
          </a:p>
          <a:p>
            <a:pPr marL="228600" indent="-228600"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We also report the share of each theme's posts that are negative.</a:t>
            </a:r>
            <a:endParaRPr sz="1700">
              <a:solidFill>
                <a:srgbClr val="1B1F3B"/>
              </a:solidFill>
              <a:latin typeface="Segoe UI"/>
            </a:endParaRPr>
          </a:p>
        </p:txBody>
      </p:sp>
      <p:pic>
        <p:nvPicPr>
          <p:cNvPr id="273" name="Picture 6" descr="vc_platforms_shar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112000" y="1905000"/>
            <a:ext cx="4699000" cy="2794000"/>
          </a:xfrm>
          <a:prstGeom prst="rect">
            <a:avLst/>
          </a:prstGeom>
        </p:spPr>
      </p:pic>
      <p:sp>
        <p:nvSpPr>
          <p:cNvPr id="274" name="TextBox 7"/>
          <p:cNvSpPr txBox="1"/>
          <p:nvPr/>
        </p:nvSpPr>
        <p:spPr>
          <a:xfrm>
            <a:off x="7112000" y="4876800"/>
            <a:ext cx="4699000" cy="294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8A8FA3"/>
                </a:solidFill>
                <a:latin typeface="Segoe UI"/>
              </a:rPr>
              <a:t>Sample by platform (chart: VectorCraft)</a:t>
            </a:r>
            <a:endParaRPr sz="1200">
              <a:solidFill>
                <a:srgbClr val="8A8FA3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77" name="TextBox 2"/>
          <p:cNvSpPr txBox="1"/>
          <p:nvPr/>
        </p:nvSpPr>
        <p:spPr>
          <a:xfrm>
            <a:off x="711200" y="381000"/>
            <a:ext cx="10414000" cy="311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4A"/>
                </a:solidFill>
                <a:latin typeface="Segoe UI"/>
              </a:rPr>
              <a:t>FINDING 1</a:t>
            </a:r>
            <a:endParaRPr sz="1300" b="1">
              <a:solidFill>
                <a:srgbClr val="FF6B4A"/>
              </a:solidFill>
              <a:latin typeface="Segoe UI"/>
            </a:endParaRPr>
          </a:p>
        </p:txBody>
      </p:sp>
      <p:sp>
        <p:nvSpPr>
          <p:cNvPr id="278" name="TextBox 3"/>
          <p:cNvSpPr txBox="1"/>
          <p:nvPr/>
        </p:nvSpPr>
        <p:spPr>
          <a:xfrm>
            <a:off x="711200" y="660400"/>
            <a:ext cx="10769600" cy="598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3B"/>
                </a:solidFill>
                <a:latin typeface="Segoe UI"/>
              </a:rPr>
              <a:t>Agentic coding doubled its share of the conversation</a:t>
            </a:r>
            <a:endParaRPr sz="3000" b="1">
              <a:solidFill>
                <a:srgbClr val="1B1F3B"/>
              </a:solidFill>
              <a:latin typeface="Segoe UI"/>
            </a:endParaRPr>
          </a:p>
        </p:txBody>
      </p:sp>
      <p:sp>
        <p:nvSpPr>
          <p:cNvPr id="279" name="TextBox 4"/>
          <p:cNvSpPr txBox="1"/>
          <p:nvPr/>
        </p:nvSpPr>
        <p:spPr>
          <a:xfrm>
            <a:off x="711200" y="6426200"/>
            <a:ext cx="10769600" cy="260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8A8FA3"/>
                </a:solidFill>
                <a:latin typeface="Segoe UI"/>
              </a:rPr>
              <a:t>Signal &amp; Noise 2026  ·  Northbank Media Lab  ·  illustrative, synthetic data  ·  3/7</a:t>
            </a:r>
            <a:endParaRPr sz="1000">
              <a:solidFill>
                <a:srgbClr val="8A8FA3"/>
              </a:solidFill>
              <a:latin typeface="Segoe UI"/>
            </a:endParaRPr>
          </a:p>
        </p:txBody>
      </p:sp>
      <p:pic>
        <p:nvPicPr>
          <p:cNvPr id="281" name="Picture 5" descr="vc_share_chart_bar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8000" y="1549400"/>
            <a:ext cx="7620000" cy="3835400"/>
          </a:xfrm>
          <a:prstGeom prst="rect">
            <a:avLst/>
          </a:prstGeom>
        </p:spPr>
      </p:pic>
      <p:sp>
        <p:nvSpPr>
          <p:cNvPr id="282" name="Rectangle 6"/>
          <p:cNvSpPr/>
          <p:nvPr/>
        </p:nvSpPr>
        <p:spPr>
          <a:xfrm>
            <a:off x="8483600" y="1676400"/>
            <a:ext cx="3200400" cy="368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83" name="TextBox 7"/>
          <p:cNvSpPr txBox="1"/>
          <p:nvPr/>
        </p:nvSpPr>
        <p:spPr>
          <a:xfrm>
            <a:off x="8737600" y="1905000"/>
            <a:ext cx="2692400" cy="733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6B4A"/>
                </a:solidFill>
                <a:latin typeface="Segoe UI"/>
              </a:rPr>
              <a:t>9% → 20%</a:t>
            </a:r>
            <a:endParaRPr sz="3800" b="1">
              <a:solidFill>
                <a:srgbClr val="FF6B4A"/>
              </a:solidFill>
              <a:latin typeface="Segoe UI"/>
            </a:endParaRPr>
          </a:p>
        </p:txBody>
      </p:sp>
      <p:sp>
        <p:nvSpPr>
          <p:cNvPr id="284" name="TextBox 8"/>
          <p:cNvSpPr txBox="1"/>
          <p:nvPr/>
        </p:nvSpPr>
        <p:spPr>
          <a:xfrm>
            <a:off x="8737600" y="2819400"/>
            <a:ext cx="2692400" cy="1577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1B1F3B"/>
                </a:solidFill>
                <a:latin typeface="Segoe UI"/>
              </a:rPr>
              <a:t>Agentic coding's share of the conversation, Jan to Sep. It is the largest theme overall, with 15% of all posts.</a:t>
            </a:r>
            <a:endParaRPr sz="1600">
              <a:solidFill>
                <a:srgbClr val="1B1F3B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900" fill="hold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 fill="hold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87" name="TextBox 2"/>
          <p:cNvSpPr txBox="1"/>
          <p:nvPr/>
        </p:nvSpPr>
        <p:spPr>
          <a:xfrm>
            <a:off x="711200" y="381000"/>
            <a:ext cx="10414000" cy="311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4A"/>
                </a:solidFill>
                <a:latin typeface="Segoe UI"/>
              </a:rPr>
              <a:t>FINDING 2</a:t>
            </a:r>
            <a:endParaRPr sz="1300" b="1">
              <a:solidFill>
                <a:srgbClr val="FF6B4A"/>
              </a:solidFill>
              <a:latin typeface="Segoe UI"/>
            </a:endParaRPr>
          </a:p>
        </p:txBody>
      </p:sp>
      <p:sp>
        <p:nvSpPr>
          <p:cNvPr id="288" name="TextBox 3"/>
          <p:cNvSpPr txBox="1"/>
          <p:nvPr/>
        </p:nvSpPr>
        <p:spPr>
          <a:xfrm>
            <a:off x="711200" y="660400"/>
            <a:ext cx="10769600" cy="598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3B"/>
                </a:solidFill>
                <a:latin typeface="Segoe UI"/>
              </a:rPr>
              <a:t>Prices &amp; tokens is the most negative theme</a:t>
            </a:r>
            <a:endParaRPr sz="3000" b="1">
              <a:solidFill>
                <a:srgbClr val="1B1F3B"/>
              </a:solidFill>
              <a:latin typeface="Segoe UI"/>
            </a:endParaRPr>
          </a:p>
        </p:txBody>
      </p:sp>
      <p:sp>
        <p:nvSpPr>
          <p:cNvPr id="289" name="TextBox 4"/>
          <p:cNvSpPr txBox="1"/>
          <p:nvPr/>
        </p:nvSpPr>
        <p:spPr>
          <a:xfrm>
            <a:off x="711200" y="6426200"/>
            <a:ext cx="10769600" cy="260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8A8FA3"/>
                </a:solidFill>
                <a:latin typeface="Segoe UI"/>
              </a:rPr>
              <a:t>Signal &amp; Noise 2026  ·  Northbank Media Lab  ·  illustrative, synthetic data  ·  4/7</a:t>
            </a:r>
            <a:endParaRPr sz="1000">
              <a:solidFill>
                <a:srgbClr val="8A8FA3"/>
              </a:solidFill>
              <a:latin typeface="Segoe UI"/>
            </a:endParaRPr>
          </a:p>
        </p:txBody>
      </p:sp>
      <p:pic>
        <p:nvPicPr>
          <p:cNvPr id="291" name="Picture 5" descr="vc_negative_chart_bar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8000" y="1549400"/>
            <a:ext cx="7620000" cy="3835400"/>
          </a:xfrm>
          <a:prstGeom prst="rect">
            <a:avLst/>
          </a:prstGeom>
        </p:spPr>
      </p:pic>
      <p:sp>
        <p:nvSpPr>
          <p:cNvPr id="292" name="Rectangle 6"/>
          <p:cNvSpPr/>
          <p:nvPr/>
        </p:nvSpPr>
        <p:spPr>
          <a:xfrm>
            <a:off x="8483600" y="1676400"/>
            <a:ext cx="3200400" cy="368300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93" name="TextBox 7"/>
          <p:cNvSpPr txBox="1"/>
          <p:nvPr/>
        </p:nvSpPr>
        <p:spPr>
          <a:xfrm>
            <a:off x="8737600" y="1905000"/>
            <a:ext cx="2692400" cy="902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7F4EE"/>
                </a:solidFill>
                <a:latin typeface="Segoe UI"/>
              </a:rPr>
              <a:t>53%</a:t>
            </a:r>
            <a:endParaRPr sz="4800" b="1">
              <a:solidFill>
                <a:srgbClr val="F7F4EE"/>
              </a:solidFill>
              <a:latin typeface="Segoe UI"/>
            </a:endParaRPr>
          </a:p>
        </p:txBody>
      </p:sp>
      <p:sp>
        <p:nvSpPr>
          <p:cNvPr id="294" name="TextBox 8"/>
          <p:cNvSpPr txBox="1"/>
          <p:nvPr/>
        </p:nvSpPr>
        <p:spPr>
          <a:xfrm>
            <a:off x="8737600" y="2819400"/>
            <a:ext cx="2692400" cy="1577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F7F4EE"/>
                </a:solidFill>
                <a:latin typeface="Segoe UI"/>
              </a:rPr>
              <a:t>of Prices &amp; tokens posts were negative. The average for all themes is 23%. A frequent complaint: “price per token down, bill up.”</a:t>
            </a:r>
            <a:endParaRPr sz="1600">
              <a:solidFill>
                <a:srgbClr val="F7F4EE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900" fill="hold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 fill="hold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97" name="TextBox 2"/>
          <p:cNvSpPr txBox="1"/>
          <p:nvPr/>
        </p:nvSpPr>
        <p:spPr>
          <a:xfrm>
            <a:off x="711200" y="381000"/>
            <a:ext cx="10414000" cy="311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4A"/>
                </a:solidFill>
                <a:latin typeface="Segoe UI"/>
              </a:rPr>
              <a:t>FINDING 3</a:t>
            </a:r>
            <a:endParaRPr sz="1300" b="1">
              <a:solidFill>
                <a:srgbClr val="FF6B4A"/>
              </a:solidFill>
              <a:latin typeface="Segoe UI"/>
            </a:endParaRPr>
          </a:p>
        </p:txBody>
      </p:sp>
      <p:sp>
        <p:nvSpPr>
          <p:cNvPr id="298" name="TextBox 3"/>
          <p:cNvSpPr txBox="1"/>
          <p:nvPr/>
        </p:nvSpPr>
        <p:spPr>
          <a:xfrm>
            <a:off x="711200" y="660400"/>
            <a:ext cx="10769600" cy="598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3B"/>
                </a:solidFill>
                <a:latin typeface="Segoe UI"/>
              </a:rPr>
              <a:t>What grew and what fell</a:t>
            </a:r>
            <a:endParaRPr sz="3000" b="1">
              <a:solidFill>
                <a:srgbClr val="1B1F3B"/>
              </a:solidFill>
              <a:latin typeface="Segoe UI"/>
            </a:endParaRPr>
          </a:p>
        </p:txBody>
      </p:sp>
      <p:sp>
        <p:nvSpPr>
          <p:cNvPr id="299" name="TextBox 4"/>
          <p:cNvSpPr txBox="1"/>
          <p:nvPr/>
        </p:nvSpPr>
        <p:spPr>
          <a:xfrm>
            <a:off x="711200" y="6426200"/>
            <a:ext cx="10769600" cy="260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8A8FA3"/>
                </a:solidFill>
                <a:latin typeface="Segoe UI"/>
              </a:rPr>
              <a:t>Signal &amp; Noise 2026  ·  Northbank Media Lab  ·  illustrative, synthetic data  ·  5/7</a:t>
            </a:r>
            <a:endParaRPr sz="1000">
              <a:solidFill>
                <a:srgbClr val="8A8FA3"/>
              </a:solidFill>
              <a:latin typeface="Segoe UI"/>
            </a:endParaRPr>
          </a:p>
        </p:txBody>
      </p:sp>
      <p:graphicFrame>
        <p:nvGraphicFramePr>
          <p:cNvPr id="300" name="Chart 5"/>
          <p:cNvGraphicFramePr>
            <a:graphicFrameLocks noGrp="1"/>
          </p:cNvGraphicFramePr>
          <p:nvPr/>
        </p:nvGraphicFramePr>
        <p:xfrm>
          <a:off x="609600" y="1498600"/>
          <a:ext cx="7366000" cy="4648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1" name="Rectangle 6"/>
          <p:cNvSpPr/>
          <p:nvPr/>
        </p:nvSpPr>
        <p:spPr>
          <a:xfrm>
            <a:off x="8483600" y="1676400"/>
            <a:ext cx="3200400" cy="368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02" name="TextBox 7"/>
          <p:cNvSpPr txBox="1"/>
          <p:nvPr/>
        </p:nvSpPr>
        <p:spPr>
          <a:xfrm>
            <a:off x="8737600" y="1905000"/>
            <a:ext cx="2692400" cy="699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A5CFA"/>
                </a:solidFill>
                <a:latin typeface="Segoe UI"/>
              </a:rPr>
              <a:t>18% → 6%</a:t>
            </a:r>
            <a:endParaRPr sz="3600" b="1">
              <a:solidFill>
                <a:srgbClr val="7A5CFA"/>
              </a:solidFill>
              <a:latin typeface="Segoe UI"/>
            </a:endParaRPr>
          </a:p>
        </p:txBody>
      </p:sp>
      <p:sp>
        <p:nvSpPr>
          <p:cNvPr id="303" name="TextBox 8"/>
          <p:cNvSpPr txBox="1"/>
          <p:nvPr/>
        </p:nvSpPr>
        <p:spPr>
          <a:xfrm>
            <a:off x="8737600" y="2819400"/>
            <a:ext cx="2692400" cy="1485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>
                <a:solidFill>
                  <a:srgbClr val="1B1F3B"/>
                </a:solidFill>
                <a:latin typeface="Segoe UI"/>
              </a:rPr>
              <a:t>Reasoning &amp; test-time compute fell from the largest theme to one of the smallest. Benchmarks &amp; evals fell from 12% to 6%.</a:t>
            </a:r>
            <a:endParaRPr sz="1500">
              <a:solidFill>
                <a:srgbClr val="1B1F3B"/>
              </a:solidFill>
              <a:latin typeface="Segoe UI"/>
            </a:endParaRPr>
          </a:p>
        </p:txBody>
      </p:sp>
      <p:sp>
        <p:nvSpPr>
          <p:cNvPr id="304" name="TextBox 9"/>
          <p:cNvSpPr txBox="1"/>
          <p:nvPr/>
        </p:nvSpPr>
        <p:spPr>
          <a:xfrm>
            <a:off x="609600" y="6172200"/>
            <a:ext cx="7620000" cy="260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8A8FA3"/>
                </a:solidFill>
                <a:latin typeface="Segoe UI"/>
              </a:rPr>
              <a:t>Share of the conversation (%), Jan vs Sep 2026. Reasoning = Reasoning &amp; test-time compute. Native DeckCraft chart.</a:t>
            </a:r>
            <a:endParaRPr sz="1000">
              <a:solidFill>
                <a:srgbClr val="8A8FA3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07" name="TextBox 2"/>
          <p:cNvSpPr txBox="1"/>
          <p:nvPr/>
        </p:nvSpPr>
        <p:spPr>
          <a:xfrm>
            <a:off x="711200" y="381000"/>
            <a:ext cx="10414000" cy="311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2B134"/>
                </a:solidFill>
                <a:latin typeface="Segoe UI"/>
              </a:rPr>
              <a:t>TAKEAWAY</a:t>
            </a:r>
            <a:endParaRPr sz="1300" b="1">
              <a:solidFill>
                <a:srgbClr val="F2B134"/>
              </a:solidFill>
              <a:latin typeface="Segoe UI"/>
            </a:endParaRPr>
          </a:p>
        </p:txBody>
      </p:sp>
      <p:sp>
        <p:nvSpPr>
          <p:cNvPr id="308" name="TextBox 3"/>
          <p:cNvSpPr txBox="1"/>
          <p:nvPr/>
        </p:nvSpPr>
        <p:spPr>
          <a:xfrm>
            <a:off x="711200" y="6426200"/>
            <a:ext cx="10769600" cy="260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8A8FA3"/>
                </a:solidFill>
                <a:latin typeface="Segoe UI"/>
              </a:rPr>
              <a:t>Signal &amp; Noise 2026  ·  Northbank Media Lab  ·  illustrative, synthetic data  ·  6/7</a:t>
            </a:r>
            <a:endParaRPr sz="1000">
              <a:solidFill>
                <a:srgbClr val="8A8FA3"/>
              </a:solidFill>
              <a:latin typeface="Segoe UI"/>
            </a:endParaRPr>
          </a:p>
        </p:txBody>
      </p:sp>
      <p:sp>
        <p:nvSpPr>
          <p:cNvPr id="309" name="TextBox 4"/>
          <p:cNvSpPr txBox="1"/>
          <p:nvPr/>
        </p:nvSpPr>
        <p:spPr>
          <a:xfrm>
            <a:off x="711200" y="889000"/>
            <a:ext cx="10769600" cy="1297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F7F4EE"/>
                </a:solidFill>
                <a:latin typeface="Segoe UI"/>
              </a:rPr>
              <a:t>The conversation moved from what models can think to what they can do, and to what they cost.</a:t>
            </a:r>
            <a:endParaRPr sz="3400" b="1">
              <a:solidFill>
                <a:srgbClr val="F7F4EE"/>
              </a:solidFill>
              <a:latin typeface="Segoe UI"/>
            </a:endParaRPr>
          </a:p>
        </p:txBody>
      </p:sp>
      <p:sp>
        <p:nvSpPr>
          <p:cNvPr id="310" name="Rectangle 5"/>
          <p:cNvSpPr/>
          <p:nvPr/>
        </p:nvSpPr>
        <p:spPr>
          <a:xfrm>
            <a:off x="711200" y="3429000"/>
            <a:ext cx="3302000" cy="635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11" name="TextBox 6"/>
          <p:cNvSpPr txBox="1"/>
          <p:nvPr/>
        </p:nvSpPr>
        <p:spPr>
          <a:xfrm>
            <a:off x="711200" y="3606800"/>
            <a:ext cx="3302000" cy="327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4A"/>
                </a:solidFill>
                <a:latin typeface="Segoe UI"/>
              </a:rPr>
              <a:t>BUILD</a:t>
            </a:r>
            <a:endParaRPr sz="1400" b="1">
              <a:solidFill>
                <a:srgbClr val="FF6B4A"/>
              </a:solidFill>
              <a:latin typeface="Segoe UI"/>
            </a:endParaRPr>
          </a:p>
        </p:txBody>
      </p:sp>
      <p:sp>
        <p:nvSpPr>
          <p:cNvPr id="312" name="TextBox 7"/>
          <p:cNvSpPr txBox="1"/>
          <p:nvPr/>
        </p:nvSpPr>
        <p:spPr>
          <a:xfrm>
            <a:off x="711200" y="3962400"/>
            <a:ext cx="3302000" cy="1039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700">
                <a:solidFill>
                  <a:srgbClr val="F7F4EE"/>
                </a:solidFill>
                <a:latin typeface="Segoe UI"/>
              </a:rPr>
              <a:t>Agentic coding's share of the conversation grew from 9% to 20%.</a:t>
            </a:r>
            <a:endParaRPr sz="1700">
              <a:solidFill>
                <a:srgbClr val="F7F4EE"/>
              </a:solidFill>
              <a:latin typeface="Segoe UI"/>
            </a:endParaRPr>
          </a:p>
        </p:txBody>
      </p:sp>
      <p:sp>
        <p:nvSpPr>
          <p:cNvPr id="313" name="Rectangle 8"/>
          <p:cNvSpPr/>
          <p:nvPr/>
        </p:nvSpPr>
        <p:spPr>
          <a:xfrm>
            <a:off x="4394200" y="3429000"/>
            <a:ext cx="3302000" cy="635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14" name="TextBox 9"/>
          <p:cNvSpPr txBox="1"/>
          <p:nvPr/>
        </p:nvSpPr>
        <p:spPr>
          <a:xfrm>
            <a:off x="4394200" y="3606800"/>
            <a:ext cx="3302000" cy="327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B134"/>
                </a:solidFill>
                <a:latin typeface="Segoe UI"/>
              </a:rPr>
              <a:t>BUDGET</a:t>
            </a:r>
            <a:endParaRPr sz="1400" b="1">
              <a:solidFill>
                <a:srgbClr val="F2B134"/>
              </a:solidFill>
              <a:latin typeface="Segoe UI"/>
            </a:endParaRPr>
          </a:p>
        </p:txBody>
      </p:sp>
      <p:sp>
        <p:nvSpPr>
          <p:cNvPr id="315" name="TextBox 10"/>
          <p:cNvSpPr txBox="1"/>
          <p:nvPr/>
        </p:nvSpPr>
        <p:spPr>
          <a:xfrm>
            <a:off x="4394200" y="3962400"/>
            <a:ext cx="3302000" cy="1039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700">
                <a:solidFill>
                  <a:srgbClr val="F7F4EE"/>
                </a:solidFill>
                <a:latin typeface="Segoe UI"/>
              </a:rPr>
              <a:t>53% of price posts were negative. Posters said bills increased as token prices fell.</a:t>
            </a:r>
            <a:endParaRPr sz="1700">
              <a:solidFill>
                <a:srgbClr val="F7F4EE"/>
              </a:solidFill>
              <a:latin typeface="Segoe UI"/>
            </a:endParaRPr>
          </a:p>
        </p:txBody>
      </p:sp>
      <p:sp>
        <p:nvSpPr>
          <p:cNvPr id="316" name="Rectangle 11"/>
          <p:cNvSpPr/>
          <p:nvPr/>
        </p:nvSpPr>
        <p:spPr>
          <a:xfrm>
            <a:off x="8077200" y="3429000"/>
            <a:ext cx="3302000" cy="63500"/>
          </a:xfrm>
          <a:prstGeom prst="rect">
            <a:avLst/>
          </a:prstGeom>
          <a:solidFill>
            <a:srgbClr val="2BB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17" name="TextBox 12"/>
          <p:cNvSpPr txBox="1"/>
          <p:nvPr/>
        </p:nvSpPr>
        <p:spPr>
          <a:xfrm>
            <a:off x="8077200" y="3606800"/>
            <a:ext cx="3302000" cy="327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B3A3"/>
                </a:solidFill>
                <a:latin typeface="Segoe UI"/>
              </a:rPr>
              <a:t>GROUND</a:t>
            </a:r>
            <a:endParaRPr sz="1400" b="1">
              <a:solidFill>
                <a:srgbClr val="2BB3A3"/>
              </a:solidFill>
              <a:latin typeface="Segoe UI"/>
            </a:endParaRPr>
          </a:p>
        </p:txBody>
      </p:sp>
      <p:sp>
        <p:nvSpPr>
          <p:cNvPr id="318" name="TextBox 13"/>
          <p:cNvSpPr txBox="1"/>
          <p:nvPr/>
        </p:nvSpPr>
        <p:spPr>
          <a:xfrm>
            <a:off x="8077200" y="3962400"/>
            <a:ext cx="3302000" cy="1039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700">
                <a:solidFill>
                  <a:srgbClr val="F7F4EE"/>
                </a:solidFill>
                <a:latin typeface="Segoe UI"/>
              </a:rPr>
              <a:t>Compute &amp; energy grew from 9% to 12%. On-device AI grew from 6% to 8%.</a:t>
            </a:r>
            <a:endParaRPr sz="1700">
              <a:solidFill>
                <a:srgbClr val="F7F4EE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" grpId="0" animBg="1"/>
      <p:bldP spid="315" grpId="0" animBg="1"/>
      <p:bldP spid="3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21" name="TextBox 2"/>
          <p:cNvSpPr txBox="1"/>
          <p:nvPr/>
        </p:nvSpPr>
        <p:spPr>
          <a:xfrm>
            <a:off x="711200" y="381000"/>
            <a:ext cx="10414000" cy="311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4A"/>
                </a:solidFill>
                <a:latin typeface="Segoe UI"/>
              </a:rPr>
              <a:t>ABOUT THE DATA</a:t>
            </a:r>
            <a:endParaRPr sz="1300" b="1">
              <a:solidFill>
                <a:srgbClr val="FF6B4A"/>
              </a:solidFill>
              <a:latin typeface="Segoe UI"/>
            </a:endParaRPr>
          </a:p>
        </p:txBody>
      </p:sp>
      <p:sp>
        <p:nvSpPr>
          <p:cNvPr id="322" name="TextBox 3"/>
          <p:cNvSpPr txBox="1"/>
          <p:nvPr/>
        </p:nvSpPr>
        <p:spPr>
          <a:xfrm>
            <a:off x="711200" y="660400"/>
            <a:ext cx="10769600" cy="598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3B"/>
                </a:solidFill>
                <a:latin typeface="Segoe UI"/>
              </a:rPr>
              <a:t>Synthetic by design</a:t>
            </a:r>
            <a:endParaRPr sz="3000" b="1">
              <a:solidFill>
                <a:srgbClr val="1B1F3B"/>
              </a:solidFill>
              <a:latin typeface="Segoe UI"/>
            </a:endParaRPr>
          </a:p>
        </p:txBody>
      </p:sp>
      <p:sp>
        <p:nvSpPr>
          <p:cNvPr id="323" name="TextBox 4"/>
          <p:cNvSpPr txBox="1"/>
          <p:nvPr/>
        </p:nvSpPr>
        <p:spPr>
          <a:xfrm>
            <a:off x="711200" y="6426200"/>
            <a:ext cx="10769600" cy="260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8A8FA3"/>
                </a:solidFill>
                <a:latin typeface="Segoe UI"/>
              </a:rPr>
              <a:t>Signal &amp; Noise 2026  ·  Northbank Media Lab  ·  illustrative, synthetic data  ·  7/7</a:t>
            </a:r>
            <a:endParaRPr sz="1000">
              <a:solidFill>
                <a:srgbClr val="8A8FA3"/>
              </a:solidFill>
              <a:latin typeface="Segoe UI"/>
            </a:endParaRPr>
          </a:p>
        </p:txBody>
      </p:sp>
      <p:sp>
        <p:nvSpPr>
          <p:cNvPr id="324" name="TextBox 5"/>
          <p:cNvSpPr txBox="1"/>
          <p:nvPr/>
        </p:nvSpPr>
        <p:spPr>
          <a:xfrm>
            <a:off x="711200" y="1600200"/>
            <a:ext cx="8763000" cy="2659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All 387 posts are synthetic. The fictional Northbank Media Lab made them for this example.</a:t>
            </a:r>
            <a:endParaRPr sz="1700">
              <a:solidFill>
                <a:srgbClr val="1B1F3B"/>
              </a:solidFill>
              <a:latin typeface="Segoe UI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Authors are fictional handles (@researcher_NNN). No quote comes from a real person.</a:t>
            </a:r>
            <a:endParaRPr sz="1700">
              <a:solidFill>
                <a:srgbClr val="1B1F3B"/>
              </a:solidFill>
              <a:latin typeface="Segoe UI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The deck makes no claims about real models or companies.</a:t>
            </a:r>
            <a:endParaRPr sz="1700">
              <a:solidFill>
                <a:srgbClr val="1B1F3B"/>
              </a:solidFill>
              <a:latin typeface="Segoe UI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We show shares because the sample is small. The shares describe the sample only.</a:t>
            </a:r>
            <a:endParaRPr sz="1700">
              <a:solidFill>
                <a:srgbClr val="1B1F3B"/>
              </a:solidFill>
              <a:latin typeface="Segoe UI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Clr>
                <a:srgbClr val="FF6B4A"/>
              </a:buClr>
              <a:buFont typeface="Arial"/>
              <a:buChar char="•"/>
            </a:pPr>
            <a:r>
              <a:rPr sz="1700">
                <a:solidFill>
                  <a:srgbClr val="1B1F3B"/>
                </a:solidFill>
                <a:latin typeface="Segoe UI"/>
              </a:rPr>
              <a:t>VectorCraft drew the charts and badge. DesignCraft made the poster. DeckCraft made this deck.</a:t>
            </a:r>
            <a:endParaRPr sz="1700">
              <a:solidFill>
                <a:srgbClr val="1B1F3B"/>
              </a:solidFill>
              <a:latin typeface="Segoe UI"/>
            </a:endParaRPr>
          </a:p>
        </p:txBody>
      </p:sp>
      <p:pic>
        <p:nvPicPr>
          <p:cNvPr id="325" name="Picture 6" descr="vc_bad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779000" y="4191000"/>
            <a:ext cx="1905000" cy="190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Custom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C9C5D6"/>
      </a:accent1>
      <a:accent2>
        <a:srgbClr val="FF6B4A"/>
      </a:accent2>
      <a:accent3>
        <a:srgbClr val="2BB3A3"/>
      </a:accent3>
      <a:accent4>
        <a:srgbClr val="F2B134"/>
      </a:accent4>
      <a:accent5>
        <a:srgbClr val="7A5CFA"/>
      </a:accent5>
      <a:accent6>
        <a:srgbClr val="4AA3FF"/>
      </a:accent6>
      <a:hlink>
        <a:srgbClr val="2E6FD8"/>
      </a:hlink>
      <a:folHlink>
        <a:srgbClr val="7A5BA6"/>
      </a:folHlink>
    </a:clrScheme>
    <a:fontScheme name="Custom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Custom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C9C5D6"/>
      </a:accent1>
      <a:accent2>
        <a:srgbClr val="FF6B4A"/>
      </a:accent2>
      <a:accent3>
        <a:srgbClr val="2BB3A3"/>
      </a:accent3>
      <a:accent4>
        <a:srgbClr val="F2B134"/>
      </a:accent4>
      <a:accent5>
        <a:srgbClr val="7A5CFA"/>
      </a:accent5>
      <a:accent6>
        <a:srgbClr val="4AA3FF"/>
      </a:accent6>
      <a:hlink>
        <a:srgbClr val="2E6FD8"/>
      </a:hlink>
      <a:folHlink>
        <a:srgbClr val="7A5BA6"/>
      </a:folHlink>
    </a:clrScheme>
    <a:fontScheme name="Custom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7</Slides>
  <Notes>1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